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733"/>
    <a:srgbClr val="2D3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08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Best Route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</a:t>
            </a:r>
            <a:r>
              <a:rPr lang="en-US" sz="2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</a:t>
            </a:r>
            <a:r>
              <a:rPr lang="en-US" sz="22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Algorithm </a:t>
            </a: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Two-Dimensional Grid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JSD Squad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Zhuo Wang   •   Sandra Yang Huang   •   Doudou Lei Tuo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4076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graph theory to a working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visualizer.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1307592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2075688"/>
            <a:ext cx="22422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</a:t>
            </a:r>
            <a:r>
              <a:rPr lang="zh-CN" alt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09160" y="2363526"/>
            <a:ext cx="21130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graph search?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0" y="2057400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09160" y="1322412"/>
            <a:ext cx="2443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r>
              <a:rPr lang="zh-CN" alt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zh-CN" alt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1610250"/>
            <a:ext cx="28883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pathfinding matters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23360" y="2807208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07208"/>
            <a:ext cx="2443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Dijkstra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095046"/>
            <a:ext cx="21130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Cost-driven exploration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3360" y="3557016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3557016"/>
            <a:ext cx="2443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A*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3844854"/>
            <a:ext cx="21130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heuristic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23360" y="4306824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9160" y="4306824"/>
            <a:ext cx="2443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vs Dijkstra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4594662"/>
            <a:ext cx="21130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36604" y="1322412"/>
            <a:ext cx="53261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22404" y="1322412"/>
            <a:ext cx="21975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22403" y="1610250"/>
            <a:ext cx="24439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queue (min-heap)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36603" y="2072220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22403" y="2072220"/>
            <a:ext cx="2443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22404" y="2360058"/>
            <a:ext cx="2597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r>
              <a:rPr lang="zh-CN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36603" y="4306824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b="1" dirty="0">
              <a:solidFill>
                <a:srgbClr val="F2A65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22403" y="4306824"/>
            <a:ext cx="2443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22404" y="4594662"/>
            <a:ext cx="2597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E70B99E9-2373-CB10-9928-3DCA34CCE3DD}"/>
              </a:ext>
            </a:extLst>
          </p:cNvPr>
          <p:cNvSpPr/>
          <p:nvPr/>
        </p:nvSpPr>
        <p:spPr>
          <a:xfrm>
            <a:off x="8236603" y="3561157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altLang="zh-CN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b="1" dirty="0">
              <a:solidFill>
                <a:srgbClr val="F2A65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31919603-5AE0-48B9-67D0-1F60119756B5}"/>
              </a:ext>
            </a:extLst>
          </p:cNvPr>
          <p:cNvSpPr/>
          <p:nvPr/>
        </p:nvSpPr>
        <p:spPr>
          <a:xfrm>
            <a:off x="8922403" y="3561157"/>
            <a:ext cx="2443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r>
              <a:rPr lang="zh-CN" alt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600" dirty="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A0475F56-17B4-A935-9B47-63AB402D8B9B}"/>
              </a:ext>
            </a:extLst>
          </p:cNvPr>
          <p:cNvSpPr/>
          <p:nvPr/>
        </p:nvSpPr>
        <p:spPr>
          <a:xfrm>
            <a:off x="8922404" y="3848995"/>
            <a:ext cx="2597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15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Validation</a:t>
            </a:r>
            <a:r>
              <a:rPr lang="zh-CN" altLang="en-US" sz="115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15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83AB899-990E-BB24-F8B5-FCDB38AB01AD}"/>
              </a:ext>
            </a:extLst>
          </p:cNvPr>
          <p:cNvSpPr/>
          <p:nvPr/>
        </p:nvSpPr>
        <p:spPr>
          <a:xfrm>
            <a:off x="8236603" y="2807208"/>
            <a:ext cx="5326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altLang="zh-CN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b="1" dirty="0">
              <a:solidFill>
                <a:srgbClr val="F2A65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8DDB6A85-B23F-137B-385C-36E2F224EF22}"/>
              </a:ext>
            </a:extLst>
          </p:cNvPr>
          <p:cNvSpPr/>
          <p:nvPr/>
        </p:nvSpPr>
        <p:spPr>
          <a:xfrm>
            <a:off x="8922403" y="2807208"/>
            <a:ext cx="2443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00" dirty="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91F48A36-1964-3E65-832C-6A2B3B681E60}"/>
              </a:ext>
            </a:extLst>
          </p:cNvPr>
          <p:cNvSpPr/>
          <p:nvPr/>
        </p:nvSpPr>
        <p:spPr>
          <a:xfrm>
            <a:off x="8922404" y="3095046"/>
            <a:ext cx="2597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30×30 grid walkthrough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r>
              <a:rPr lang="zh-CN" alt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zh-CN" alt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r>
              <a:rPr lang="zh-CN" alt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</a:t>
            </a:r>
            <a:r>
              <a:rPr lang="zh-CN" alt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Shortest-Path Search Shows Up</a:t>
            </a:r>
            <a:endParaRPr lang="en-US" sz="2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2B482F0-7730-4B3C-919E-A19D9BC1BB6E}"/>
              </a:ext>
            </a:extLst>
          </p:cNvPr>
          <p:cNvGrpSpPr/>
          <p:nvPr/>
        </p:nvGrpSpPr>
        <p:grpSpPr>
          <a:xfrm>
            <a:off x="615695" y="1691640"/>
            <a:ext cx="6744801" cy="2377440"/>
            <a:chOff x="6272783" y="1691640"/>
            <a:chExt cx="6744801" cy="2377440"/>
          </a:xfrm>
        </p:grpSpPr>
        <p:sp>
          <p:nvSpPr>
            <p:cNvPr id="14" name="Shape 12"/>
            <p:cNvSpPr/>
            <p:nvPr/>
          </p:nvSpPr>
          <p:spPr>
            <a:xfrm>
              <a:off x="6272783" y="1691640"/>
              <a:ext cx="6744801" cy="2377440"/>
            </a:xfrm>
            <a:prstGeom prst="roundRect">
              <a:avLst>
                <a:gd name="adj" fmla="val 3462"/>
              </a:avLst>
            </a:prstGeom>
            <a:solidFill>
              <a:srgbClr val="F5F7FB"/>
            </a:solidFill>
            <a:ln w="12700">
              <a:solidFill>
                <a:srgbClr val="E7EA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501384" y="1965960"/>
              <a:ext cx="502920" cy="50292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501384" y="19659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473952" y="2606040"/>
              <a:ext cx="22402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GPS &amp; Maps</a:t>
              </a:r>
              <a:endParaRPr lang="en-US" sz="15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473952" y="2971800"/>
              <a:ext cx="224028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150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Turn-by-turn routing on real road networks with varying costs.</a:t>
              </a:r>
              <a:endParaRPr lang="en-US" sz="115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7592882" y="1691640"/>
            <a:ext cx="4129184" cy="2377440"/>
          </a:xfrm>
          <a:prstGeom prst="roundRect">
            <a:avLst>
              <a:gd name="adj" fmla="val 3462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99086" y="2067053"/>
            <a:ext cx="5112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35473" y="1934165"/>
            <a:ext cx="1083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8294" y="1923524"/>
            <a:ext cx="2374288" cy="457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Lowest-cost routing of packets across weighted network links.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32020"/>
            <a:ext cx="11173426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30×30 terminal grid where the user picks a Start and Goal, then watches A* and Dijkstra solve the exact same map back-to-back — same walls, same start/goal — so their behavior can be compared directly, frame by frame.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62A1D1-2D88-F24B-8FD3-F9D16988670D}"/>
              </a:ext>
            </a:extLst>
          </p:cNvPr>
          <p:cNvGrpSpPr/>
          <p:nvPr/>
        </p:nvGrpSpPr>
        <p:grpSpPr>
          <a:xfrm>
            <a:off x="7836149" y="1937452"/>
            <a:ext cx="378304" cy="378304"/>
            <a:chOff x="7715739" y="1611630"/>
            <a:chExt cx="378304" cy="378304"/>
          </a:xfrm>
        </p:grpSpPr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C42EF79D-721D-1D57-0355-12E51E4FF326}"/>
                </a:ext>
              </a:extLst>
            </p:cNvPr>
            <p:cNvSpPr/>
            <p:nvPr/>
          </p:nvSpPr>
          <p:spPr>
            <a:xfrm>
              <a:off x="7715739" y="1611630"/>
              <a:ext cx="378304" cy="378304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96BA78A2-1E13-8394-8709-124344F67B5E}"/>
                </a:ext>
              </a:extLst>
            </p:cNvPr>
            <p:cNvSpPr/>
            <p:nvPr/>
          </p:nvSpPr>
          <p:spPr>
            <a:xfrm>
              <a:off x="7736759" y="1611630"/>
              <a:ext cx="335186" cy="378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</p:grpSp>
      <p:sp>
        <p:nvSpPr>
          <p:cNvPr id="48" name="Text 19">
            <a:extLst>
              <a:ext uri="{FF2B5EF4-FFF2-40B4-BE49-F238E27FC236}">
                <a16:creationId xmlns:a16="http://schemas.microsoft.com/office/drawing/2014/main" id="{C7D64522-B4CC-81F9-66EB-2E49510D9D19}"/>
              </a:ext>
            </a:extLst>
          </p:cNvPr>
          <p:cNvSpPr/>
          <p:nvPr/>
        </p:nvSpPr>
        <p:spPr>
          <a:xfrm>
            <a:off x="7732904" y="2544097"/>
            <a:ext cx="5112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F7F32B74-6E4A-9EB8-A7A3-75B3BB3BA51C}"/>
              </a:ext>
            </a:extLst>
          </p:cNvPr>
          <p:cNvSpPr/>
          <p:nvPr/>
        </p:nvSpPr>
        <p:spPr>
          <a:xfrm>
            <a:off x="8231618" y="2661250"/>
            <a:ext cx="1083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5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1D183407-8CBB-9DE3-5D69-0CD633E65E8C}"/>
              </a:ext>
            </a:extLst>
          </p:cNvPr>
          <p:cNvSpPr/>
          <p:nvPr/>
        </p:nvSpPr>
        <p:spPr>
          <a:xfrm>
            <a:off x="9264439" y="2650609"/>
            <a:ext cx="2374288" cy="457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planning for a robot moving through a mapped environment.</a:t>
            </a:r>
            <a:endParaRPr lang="en-US" sz="115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4581BA0-A4BB-8CEB-42D9-E16868B6BF51}"/>
              </a:ext>
            </a:extLst>
          </p:cNvPr>
          <p:cNvGrpSpPr/>
          <p:nvPr/>
        </p:nvGrpSpPr>
        <p:grpSpPr>
          <a:xfrm>
            <a:off x="7832294" y="2664537"/>
            <a:ext cx="378304" cy="378304"/>
            <a:chOff x="7715739" y="1611630"/>
            <a:chExt cx="378304" cy="378304"/>
          </a:xfrm>
        </p:grpSpPr>
        <p:sp>
          <p:nvSpPr>
            <p:cNvPr id="52" name="Shape 8">
              <a:extLst>
                <a:ext uri="{FF2B5EF4-FFF2-40B4-BE49-F238E27FC236}">
                  <a16:creationId xmlns:a16="http://schemas.microsoft.com/office/drawing/2014/main" id="{15254C9B-40BE-EE91-A890-87CBE1DFE62F}"/>
                </a:ext>
              </a:extLst>
            </p:cNvPr>
            <p:cNvSpPr/>
            <p:nvPr/>
          </p:nvSpPr>
          <p:spPr>
            <a:xfrm>
              <a:off x="7715739" y="1611630"/>
              <a:ext cx="378304" cy="378304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69A51DE6-85EB-AE35-2B44-8979EC7F86B3}"/>
                </a:ext>
              </a:extLst>
            </p:cNvPr>
            <p:cNvSpPr/>
            <p:nvPr/>
          </p:nvSpPr>
          <p:spPr>
            <a:xfrm>
              <a:off x="7736759" y="1611630"/>
              <a:ext cx="335186" cy="378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</p:grpSp>
      <p:sp>
        <p:nvSpPr>
          <p:cNvPr id="54" name="Text 20">
            <a:extLst>
              <a:ext uri="{FF2B5EF4-FFF2-40B4-BE49-F238E27FC236}">
                <a16:creationId xmlns:a16="http://schemas.microsoft.com/office/drawing/2014/main" id="{E65E0659-6291-16B7-61F1-289441EEA60E}"/>
              </a:ext>
            </a:extLst>
          </p:cNvPr>
          <p:cNvSpPr/>
          <p:nvPr/>
        </p:nvSpPr>
        <p:spPr>
          <a:xfrm>
            <a:off x="8235473" y="3391423"/>
            <a:ext cx="1083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5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C1DEFE0D-ECBC-3EFC-682A-84B79992095C}"/>
              </a:ext>
            </a:extLst>
          </p:cNvPr>
          <p:cNvSpPr/>
          <p:nvPr/>
        </p:nvSpPr>
        <p:spPr>
          <a:xfrm>
            <a:off x="9268294" y="3380782"/>
            <a:ext cx="2374288" cy="457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/ unit navigation around obstacles in real time (RTS, RPGs).</a:t>
            </a:r>
            <a:endParaRPr lang="en-US" sz="115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6194BA7-564F-8488-8FA0-235076FF9272}"/>
              </a:ext>
            </a:extLst>
          </p:cNvPr>
          <p:cNvGrpSpPr/>
          <p:nvPr/>
        </p:nvGrpSpPr>
        <p:grpSpPr>
          <a:xfrm>
            <a:off x="7836149" y="3394710"/>
            <a:ext cx="378304" cy="378304"/>
            <a:chOff x="7715739" y="1611630"/>
            <a:chExt cx="378304" cy="378304"/>
          </a:xfrm>
        </p:grpSpPr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568404C8-F62E-85C7-86BD-2CB6BF5DD633}"/>
                </a:ext>
              </a:extLst>
            </p:cNvPr>
            <p:cNvSpPr/>
            <p:nvPr/>
          </p:nvSpPr>
          <p:spPr>
            <a:xfrm>
              <a:off x="7715739" y="1611630"/>
              <a:ext cx="378304" cy="378304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F2192042-5F54-2D7B-5527-7CFD19780CA4}"/>
                </a:ext>
              </a:extLst>
            </p:cNvPr>
            <p:cNvSpPr/>
            <p:nvPr/>
          </p:nvSpPr>
          <p:spPr>
            <a:xfrm>
              <a:off x="7736759" y="1611630"/>
              <a:ext cx="335186" cy="378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zh-CN" sz="16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4</a:t>
              </a:r>
              <a:endParaRPr lang="en-US" sz="1600" dirty="0"/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FD5152D4-4F74-4BE6-3A2A-6EE274E67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2" t="13625" r="3406" b="14408"/>
          <a:stretch>
            <a:fillRect/>
          </a:stretch>
        </p:blipFill>
        <p:spPr>
          <a:xfrm>
            <a:off x="3118163" y="1463040"/>
            <a:ext cx="1863290" cy="2848102"/>
          </a:xfrm>
          <a:prstGeom prst="rect">
            <a:avLst/>
          </a:prstGeom>
          <a:ln w="25400">
            <a:solidFill>
              <a:schemeClr val="bg2">
                <a:alpha val="30000"/>
              </a:schemeClr>
            </a:solidFill>
          </a:ln>
        </p:spPr>
      </p:pic>
      <p:sp>
        <p:nvSpPr>
          <p:cNvPr id="63" name="Text 21">
            <a:extLst>
              <a:ext uri="{FF2B5EF4-FFF2-40B4-BE49-F238E27FC236}">
                <a16:creationId xmlns:a16="http://schemas.microsoft.com/office/drawing/2014/main" id="{CD6E5355-9846-F082-922C-8A938D53DEDD}"/>
              </a:ext>
            </a:extLst>
          </p:cNvPr>
          <p:cNvSpPr/>
          <p:nvPr/>
        </p:nvSpPr>
        <p:spPr>
          <a:xfrm>
            <a:off x="3019096" y="4343071"/>
            <a:ext cx="1521373" cy="196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Target</a:t>
            </a:r>
            <a:r>
              <a:rPr lang="zh-CN" altLang="en-US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destination</a:t>
            </a:r>
            <a:endParaRPr lang="en-US" sz="9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7F9D0E5F-2115-DFE4-5BF3-6A746258782E}"/>
              </a:ext>
            </a:extLst>
          </p:cNvPr>
          <p:cNvSpPr/>
          <p:nvPr/>
        </p:nvSpPr>
        <p:spPr>
          <a:xfrm>
            <a:off x="5063588" y="2676521"/>
            <a:ext cx="1577892" cy="196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Wayfinding</a:t>
            </a:r>
            <a:endParaRPr lang="en-US" sz="9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4FE6AA9A-11A8-E347-43F1-D306C81328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58" t="32631" b="4753"/>
          <a:stretch>
            <a:fillRect/>
          </a:stretch>
        </p:blipFill>
        <p:spPr>
          <a:xfrm>
            <a:off x="5118516" y="1468516"/>
            <a:ext cx="2110164" cy="1237044"/>
          </a:xfrm>
          <a:prstGeom prst="rect">
            <a:avLst/>
          </a:prstGeom>
          <a:ln w="25400">
            <a:solidFill>
              <a:schemeClr val="bg2">
                <a:alpha val="30000"/>
              </a:schemeClr>
            </a:solidFill>
          </a:ln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994D441-8592-F874-E777-137B5FB01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516" y="2888472"/>
            <a:ext cx="2151847" cy="1422670"/>
          </a:xfrm>
          <a:prstGeom prst="rect">
            <a:avLst/>
          </a:prstGeom>
          <a:ln w="19050">
            <a:solidFill>
              <a:schemeClr val="bg2">
                <a:alpha val="30000"/>
              </a:schemeClr>
            </a:solidFill>
          </a:ln>
        </p:spPr>
      </p:pic>
      <p:sp>
        <p:nvSpPr>
          <p:cNvPr id="70" name="Text 21">
            <a:extLst>
              <a:ext uri="{FF2B5EF4-FFF2-40B4-BE49-F238E27FC236}">
                <a16:creationId xmlns:a16="http://schemas.microsoft.com/office/drawing/2014/main" id="{AB203C23-6812-4BDA-2FFF-CD1386C9F8F0}"/>
              </a:ext>
            </a:extLst>
          </p:cNvPr>
          <p:cNvSpPr/>
          <p:nvPr/>
        </p:nvSpPr>
        <p:spPr>
          <a:xfrm>
            <a:off x="5063588" y="4340875"/>
            <a:ext cx="1577892" cy="196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Delivery</a:t>
            </a:r>
            <a:endParaRPr lang="en-US" sz="9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Pathfinding is a Graph Search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becomes a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set of locations ("nodes") and the connections ("edges") between them. The search algorithm never sees rooms, doors, or terrain — </a:t>
            </a:r>
            <a:r>
              <a:rPr lang="en-US" sz="14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sees the graph.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7847" y="3337956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1729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of cells waiting to be explored next.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7847" y="3904884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3989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cost_so_far (g) 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already travelled from the Start.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7847" y="447181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3068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came_from 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pointers used to rebuild the final path.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7847" y="503874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873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shortest path from S to G, avoiding walls.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95160" y="1508760"/>
            <a:ext cx="4617720" cy="4937760"/>
          </a:xfrm>
          <a:prstGeom prst="roundRect">
            <a:avLst>
              <a:gd name="adj" fmla="val 1584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23760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G on a 30×30 grid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71816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82712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93608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04504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15400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26296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537192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48088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58984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469880" y="214884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60920" y="245973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71816" y="2459736"/>
            <a:ext cx="292608" cy="292608"/>
          </a:xfrm>
          <a:prstGeom prst="rect">
            <a:avLst/>
          </a:prstGeom>
          <a:solidFill>
            <a:srgbClr val="3FA79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82712" y="2459736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93608" y="2459736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04504" y="2459736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915400" y="2459736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226296" y="2459736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37192" y="2459736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848088" y="245973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158984" y="245973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469880" y="245973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60920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71816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982712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93608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04504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915400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226296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37192" y="2770632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848088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158984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469880" y="277063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360920" y="308152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671816" y="308152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982712" y="308152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293608" y="3081528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604504" y="3081528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915400" y="3081528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226296" y="3081528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537192" y="3081528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848088" y="3081528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0158984" y="308152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469880" y="308152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360920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671816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82712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293608" y="3392424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604504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915400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226296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537192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848088" y="3392424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158984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469880" y="339242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360920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671816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982712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293608" y="3703320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604504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915400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9226296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9537192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9848088" y="3703320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158984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469880" y="370332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360920" y="401421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671816" y="401421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982712" y="401421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293608" y="4014216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604504" y="4014216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915400" y="4014216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9226296" y="4014216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537192" y="4014216"/>
            <a:ext cx="292608" cy="292608"/>
          </a:xfrm>
          <a:prstGeom prst="rect">
            <a:avLst/>
          </a:prstGeom>
          <a:solidFill>
            <a:srgbClr val="9AA3B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9848088" y="4014216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0158984" y="401421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0469880" y="401421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360920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7671816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982712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293608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604504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8915400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9226296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9537192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9848088" y="4325112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0158984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0469880" y="43251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7360920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7671816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982712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293608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604504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915400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9226296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9537192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9848088" y="4636008"/>
            <a:ext cx="292608" cy="292608"/>
          </a:xfrm>
          <a:prstGeom prst="rect">
            <a:avLst/>
          </a:prstGeom>
          <a:solidFill>
            <a:srgbClr val="F2A6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158984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0469880" y="4636008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7360920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7671816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7982712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8293608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8604504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8915400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9226296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9537192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9848088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0158984" y="4946904"/>
            <a:ext cx="292608" cy="292608"/>
          </a:xfrm>
          <a:prstGeom prst="rect">
            <a:avLst/>
          </a:prstGeom>
          <a:solidFill>
            <a:srgbClr val="E85D5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10469880" y="4946904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7360920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7671816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7982712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8293608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8604504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8915400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9226296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9537192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9848088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10158984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10469880" y="5257800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7223760" y="57058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 </a:t>
            </a:r>
            <a:r>
              <a:rPr lang="en-US" sz="10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</a:t>
            </a:r>
            <a:endParaRPr lang="en-US" sz="1050" dirty="0"/>
          </a:p>
        </p:txBody>
      </p:sp>
      <p:sp>
        <p:nvSpPr>
          <p:cNvPr id="137" name="Text 135"/>
          <p:cNvSpPr/>
          <p:nvPr/>
        </p:nvSpPr>
        <p:spPr>
          <a:xfrm>
            <a:off x="7234270" y="6104933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Patel, A. J., “Introduction to the A* Algorithm,” Red Blob Games.</a:t>
            </a:r>
            <a:b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9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www.redblobgames.com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/pathfinding/a-star/</a:t>
            </a:r>
            <a:r>
              <a:rPr lang="en-US" sz="9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introduction.html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Search Loop, Two Ways to Score Priority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and A* share the exact same search loop — our code implements both from a single runSearch() function. The only difference is the formula used to compute each cell’s priority in the queue.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5915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 lowest-priority cell from the frontier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" y="2715768"/>
            <a:ext cx="0" cy="164592"/>
          </a:xfrm>
          <a:prstGeom prst="line">
            <a:avLst/>
          </a:prstGeom>
          <a:noFill/>
          <a:ln w="1905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already expanded, skip it (stale entry)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" y="3282696"/>
            <a:ext cx="0" cy="164592"/>
          </a:xfrm>
          <a:prstGeom prst="line">
            <a:avLst/>
          </a:prstGeom>
          <a:noFill/>
          <a:ln w="1905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49300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 visited; if it's the Goal, stop early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" y="3849624"/>
            <a:ext cx="0" cy="164592"/>
          </a:xfrm>
          <a:prstGeom prst="line">
            <a:avLst/>
          </a:prstGeom>
          <a:noFill/>
          <a:ln w="1905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05993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its 4 neighbors (up / down / left / right)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" y="4416552"/>
            <a:ext cx="0" cy="164592"/>
          </a:xfrm>
          <a:prstGeom prst="line">
            <a:avLst/>
          </a:prstGeom>
          <a:noFill/>
          <a:ln w="1905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5994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599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62686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cheaper path to a neighbor is found, push it with a new priority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2285999"/>
            <a:ext cx="4754880" cy="3578087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7804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priority(cell) = 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78040" y="301752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141B4D"/>
          </a:solidFill>
          <a:ln w="15875">
            <a:solidFill>
              <a:srgbClr val="3FA7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3127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401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= g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178040" y="420624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141B4D"/>
          </a:solidFill>
          <a:ln w="15875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0664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4590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= g + 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5349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cost_so_far   |   h = heuristic (estimate to Goal)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PRINCIPLE — DIJKSTRA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Dijkstra's Algorithm: Expand by True Cost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(a.k.a. Uniform Cost Search) orders the frontier purely by </a:t>
            </a:r>
            <a:r>
              <a:rPr lang="en-US" sz="13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cost_so_far (g)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real distance already travelled from Start. It has no notion of where the Goal is, so it expands outward like a ripple, equally in every direction, until the Goal is popped off the queue.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94360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pqueue.c / main.c: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31012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priority = newCost;      // g only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pqPush(&amp;frontier, nr, nc, priority);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630839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5262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to find the shortest path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014887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49103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in all directions — no bias toward the Goal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98935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529437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visits more nodes than A* on the same map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1463040"/>
            <a:ext cx="470916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expands as concentric rings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2377440"/>
            <a:ext cx="3108960" cy="3108960"/>
          </a:xfrm>
          <a:prstGeom prst="ellipse">
            <a:avLst/>
          </a:prstGeom>
          <a:ln w="2540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2743200"/>
            <a:ext cx="2377440" cy="2377440"/>
          </a:xfrm>
          <a:prstGeom prst="ellipse">
            <a:avLst/>
          </a:prstGeom>
          <a:ln w="15875">
            <a:solidFill>
              <a:srgbClr val="3FA7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3108960"/>
            <a:ext cx="1645920" cy="1645920"/>
          </a:xfrm>
          <a:prstGeom prst="ellipse">
            <a:avLst/>
          </a:prstGeom>
          <a:ln w="15875">
            <a:solidFill>
              <a:srgbClr val="3FA7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78240" y="3474720"/>
            <a:ext cx="914400" cy="914400"/>
          </a:xfrm>
          <a:prstGeom prst="ellipse">
            <a:avLst/>
          </a:prstGeom>
          <a:ln w="15875">
            <a:solidFill>
              <a:srgbClr val="3FA7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53144" y="384962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69680" y="40416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56235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could be anywhere on the outer ring —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treats every direction the same.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BE5DE84A-33C5-37B2-366F-6C4C67F7C7F6}"/>
              </a:ext>
            </a:extLst>
          </p:cNvPr>
          <p:cNvSpPr/>
          <p:nvPr/>
        </p:nvSpPr>
        <p:spPr>
          <a:xfrm>
            <a:off x="10890504" y="2112264"/>
            <a:ext cx="164592" cy="164592"/>
          </a:xfrm>
          <a:prstGeom prst="ellipse">
            <a:avLst/>
          </a:prstGeom>
          <a:solidFill>
            <a:srgbClr val="E85D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F5D5E599-20C3-B60C-7A8F-79ED9E444363}"/>
              </a:ext>
            </a:extLst>
          </p:cNvPr>
          <p:cNvSpPr/>
          <p:nvPr/>
        </p:nvSpPr>
        <p:spPr>
          <a:xfrm>
            <a:off x="10652760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PRINCIPLE — A*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A*: Add a Heuristic to Aim at the Goal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keeps Dijkstra’s </a:t>
            </a:r>
            <a:r>
              <a:rPr lang="en-US" sz="13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adds a </a:t>
            </a: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h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estimate of the remaining distance to the Goal. On a 4-directional grid we use the </a:t>
            </a:r>
            <a:r>
              <a:rPr lang="en-US" sz="13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 = |row − goalRow| + |col − goalCol|. Priority becomes f = g + h, so cells that look closer to the Goal are explored first.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94360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main.c: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63016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priority = newCost + heuristic(nr, nc);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heuristic = |dr| + |dc|  (Manhattan)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901184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846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guaranteed optimal — as long as h never overestimates (“admissible”)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524865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 never overestimates 4-directional grid cost → admissible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70585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56509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fewer nodes than Dijkstra because it's goal-directed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1463040"/>
            <a:ext cx="470916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stretches toward the Goal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24344" y="531266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0" y="5486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59779" y="2034673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5394960"/>
            <a:ext cx="3566160" cy="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78040" y="56235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start/goal as Dijkstra — notice the frontier no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wastes time exploring away from the Goal.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9F6A6A22-9DC5-E581-B715-02B77CBC2EF7}"/>
              </a:ext>
            </a:extLst>
          </p:cNvPr>
          <p:cNvSpPr/>
          <p:nvPr/>
        </p:nvSpPr>
        <p:spPr>
          <a:xfrm>
            <a:off x="7406640" y="4952604"/>
            <a:ext cx="3566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9585EFAB-0D22-87BA-8D31-A5AF2034BF56}"/>
              </a:ext>
            </a:extLst>
          </p:cNvPr>
          <p:cNvSpPr/>
          <p:nvPr/>
        </p:nvSpPr>
        <p:spPr>
          <a:xfrm>
            <a:off x="7406640" y="4519921"/>
            <a:ext cx="3566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03AB654E-D13C-C74A-1CCF-32FBAA0B396D}"/>
              </a:ext>
            </a:extLst>
          </p:cNvPr>
          <p:cNvSpPr/>
          <p:nvPr/>
        </p:nvSpPr>
        <p:spPr>
          <a:xfrm>
            <a:off x="7406640" y="3663565"/>
            <a:ext cx="3566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AA4DE0A4-D752-BAC2-4F5C-CDA34AC70586}"/>
              </a:ext>
            </a:extLst>
          </p:cNvPr>
          <p:cNvSpPr/>
          <p:nvPr/>
        </p:nvSpPr>
        <p:spPr>
          <a:xfrm>
            <a:off x="7406640" y="4093598"/>
            <a:ext cx="3566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8360B254-092E-4083-D955-D0778F4EDC17}"/>
              </a:ext>
            </a:extLst>
          </p:cNvPr>
          <p:cNvSpPr/>
          <p:nvPr/>
        </p:nvSpPr>
        <p:spPr>
          <a:xfrm>
            <a:off x="7406640" y="3230882"/>
            <a:ext cx="3566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6D2D3299-C6D4-D3C7-E4E1-8FC7AFE438EA}"/>
              </a:ext>
            </a:extLst>
          </p:cNvPr>
          <p:cNvSpPr/>
          <p:nvPr/>
        </p:nvSpPr>
        <p:spPr>
          <a:xfrm>
            <a:off x="7406640" y="2795548"/>
            <a:ext cx="3566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D8B76E61-80B2-D437-6FF2-5E7EA9F972A3}"/>
              </a:ext>
            </a:extLst>
          </p:cNvPr>
          <p:cNvSpPr/>
          <p:nvPr/>
        </p:nvSpPr>
        <p:spPr>
          <a:xfrm>
            <a:off x="7406640" y="2356368"/>
            <a:ext cx="3566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397523" y="2272417"/>
            <a:ext cx="164592" cy="164592"/>
          </a:xfrm>
          <a:prstGeom prst="ellipse">
            <a:avLst/>
          </a:prstGeom>
          <a:solidFill>
            <a:srgbClr val="E85D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19">
            <a:extLst>
              <a:ext uri="{FF2B5EF4-FFF2-40B4-BE49-F238E27FC236}">
                <a16:creationId xmlns:a16="http://schemas.microsoft.com/office/drawing/2014/main" id="{D422DA08-4451-9241-39B4-ED2FDBC85FB7}"/>
              </a:ext>
            </a:extLst>
          </p:cNvPr>
          <p:cNvSpPr/>
          <p:nvPr/>
        </p:nvSpPr>
        <p:spPr>
          <a:xfrm>
            <a:off x="7406640" y="4956048"/>
            <a:ext cx="0" cy="438913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Shape 19">
            <a:extLst>
              <a:ext uri="{FF2B5EF4-FFF2-40B4-BE49-F238E27FC236}">
                <a16:creationId xmlns:a16="http://schemas.microsoft.com/office/drawing/2014/main" id="{004B9CFD-F076-2E0D-7AF2-77BCF1F16E5A}"/>
              </a:ext>
            </a:extLst>
          </p:cNvPr>
          <p:cNvSpPr/>
          <p:nvPr/>
        </p:nvSpPr>
        <p:spPr>
          <a:xfrm>
            <a:off x="7406640" y="4952604"/>
            <a:ext cx="438912" cy="0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77023B09-267F-9AC6-0D97-3AFB07E7C10C}"/>
              </a:ext>
            </a:extLst>
          </p:cNvPr>
          <p:cNvSpPr/>
          <p:nvPr/>
        </p:nvSpPr>
        <p:spPr>
          <a:xfrm>
            <a:off x="7859202" y="4523630"/>
            <a:ext cx="0" cy="438913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FB8C82DD-7105-9167-4F19-67474D115020}"/>
              </a:ext>
            </a:extLst>
          </p:cNvPr>
          <p:cNvSpPr/>
          <p:nvPr/>
        </p:nvSpPr>
        <p:spPr>
          <a:xfrm>
            <a:off x="7845552" y="4519921"/>
            <a:ext cx="438912" cy="0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A438B2FC-C025-C22B-C7F4-DAE5066E1FA3}"/>
              </a:ext>
            </a:extLst>
          </p:cNvPr>
          <p:cNvSpPr/>
          <p:nvPr/>
        </p:nvSpPr>
        <p:spPr>
          <a:xfrm>
            <a:off x="8284464" y="4097042"/>
            <a:ext cx="0" cy="438913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Shape 19">
            <a:extLst>
              <a:ext uri="{FF2B5EF4-FFF2-40B4-BE49-F238E27FC236}">
                <a16:creationId xmlns:a16="http://schemas.microsoft.com/office/drawing/2014/main" id="{D57805FC-F5DE-701C-0454-AE418AA149F7}"/>
              </a:ext>
            </a:extLst>
          </p:cNvPr>
          <p:cNvSpPr/>
          <p:nvPr/>
        </p:nvSpPr>
        <p:spPr>
          <a:xfrm>
            <a:off x="8284464" y="4093598"/>
            <a:ext cx="438912" cy="0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508F11DC-49E5-3D18-7165-47686B605EC1}"/>
              </a:ext>
            </a:extLst>
          </p:cNvPr>
          <p:cNvSpPr/>
          <p:nvPr/>
        </p:nvSpPr>
        <p:spPr>
          <a:xfrm>
            <a:off x="8723376" y="3667009"/>
            <a:ext cx="0" cy="438913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Shape 19">
            <a:extLst>
              <a:ext uri="{FF2B5EF4-FFF2-40B4-BE49-F238E27FC236}">
                <a16:creationId xmlns:a16="http://schemas.microsoft.com/office/drawing/2014/main" id="{2531286C-FA2C-CDA5-B9F0-C52682602BAB}"/>
              </a:ext>
            </a:extLst>
          </p:cNvPr>
          <p:cNvSpPr/>
          <p:nvPr/>
        </p:nvSpPr>
        <p:spPr>
          <a:xfrm>
            <a:off x="8723376" y="3663565"/>
            <a:ext cx="438912" cy="0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Shape 19">
            <a:extLst>
              <a:ext uri="{FF2B5EF4-FFF2-40B4-BE49-F238E27FC236}">
                <a16:creationId xmlns:a16="http://schemas.microsoft.com/office/drawing/2014/main" id="{371E1721-5B45-F134-4946-A5D5C992E384}"/>
              </a:ext>
            </a:extLst>
          </p:cNvPr>
          <p:cNvSpPr/>
          <p:nvPr/>
        </p:nvSpPr>
        <p:spPr>
          <a:xfrm>
            <a:off x="9162288" y="3233000"/>
            <a:ext cx="0" cy="438913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621076E2-4995-6BD1-EB0A-190BB09CBAD1}"/>
              </a:ext>
            </a:extLst>
          </p:cNvPr>
          <p:cNvSpPr/>
          <p:nvPr/>
        </p:nvSpPr>
        <p:spPr>
          <a:xfrm>
            <a:off x="9162288" y="3229556"/>
            <a:ext cx="438912" cy="0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51ABD711-9CE8-FBBA-7052-26F610F35E24}"/>
              </a:ext>
            </a:extLst>
          </p:cNvPr>
          <p:cNvSpPr/>
          <p:nvPr/>
        </p:nvSpPr>
        <p:spPr>
          <a:xfrm>
            <a:off x="9601200" y="2798992"/>
            <a:ext cx="0" cy="438913"/>
          </a:xfrm>
          <a:prstGeom prst="line">
            <a:avLst/>
          </a:prstGeom>
          <a:ln w="222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vs. Dijkstra's Algorithm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628514"/>
              </p:ext>
            </p:extLst>
          </p:nvPr>
        </p:nvGraphicFramePr>
        <p:xfrm>
          <a:off x="548640" y="1554480"/>
          <a:ext cx="11064240" cy="3840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Dijkstra's Algorithm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Priority formula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priority = g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priority = g + </a:t>
                      </a:r>
                      <a:r>
                        <a:rPr lang="en-US" sz="1250" dirty="0">
                          <a:solidFill>
                            <a:srgbClr val="C00000"/>
                          </a:solidFill>
                        </a:rPr>
                        <a:t>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Uses a heuristic?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Yes — Manhattan distance to Goal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Direction of search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Expands equally in all directions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Biased toward the Goal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Nodes explored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More (no guidance)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Fewer (goal-directed)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Optimal path guaranteed?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Yes, always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Yes, if h is admissible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Best used for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Paths to ALL / many locations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</a:rPr>
                        <a:t>Path to ONE known location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577900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 → 0, A* degenerates into Dijkstra. As h dominates g, A* behaves like Greedy Best-First Search (fast, but not always optimal).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Frontier: A Binary Min-Heap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need the same operation from their frontier: always return the lowest-priority cell next. pqueue.c implements this as an array-backed binary min-heap so push/pop both run in O(log n).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 w="15875">
            <a:solidFill>
              <a:srgbClr val="3FA7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pqPush()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 the array, then heapifyUp() to restore heap order.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22860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 w="15875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53712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pqPop()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53712" y="28803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root (min), move last element to root, heapifyDown().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22860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 w="15875">
            <a:solidFill>
              <a:srgbClr val="E8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30184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pqTopN()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0184" y="28803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+ selection-sorts the smallest N for the live user</a:t>
            </a:r>
            <a:r>
              <a:rPr lang="zh-CN" alt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r>
              <a:rPr lang="zh-CN" alt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— doesn't mutate the real heap.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874520"/>
          </a:xfrm>
          <a:prstGeom prst="roundRect">
            <a:avLst>
              <a:gd name="adj" fmla="val 34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same cell can appear twice in the queue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cheaper path to a cell can be discovered after it was already pushed once. Rather than search-and-update the heap, we simply push a new, better-priority copy. When the stale copy is later popped, nodes[r][c].visited is already true, so it's skipped — exactly as the article recommends.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Core, Two Algorithm Modes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367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setup, user input, runSearch() core loop, path reconstruction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5511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pqueue.h / .c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PriorityQueue: push, pop, size, topN for </a:t>
            </a:r>
            <a:r>
              <a:rPr lang="en-US" altLang="zh-CN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r>
              <a:rPr lang="zh-CN" alt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4655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drawUI.h / .c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terminal rendering: grid, legend, live frontier + g/h/f </a:t>
            </a:r>
            <a:r>
              <a:rPr lang="zh-CN" alt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zh-CN" alt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zh-CN" alt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runSearch(algoName, useHeuristic)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useHeuristic = 0  →  Dijkstra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useHeuristic = 1  →  A*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loop, one line of difference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newCost = nodes[r][c].g + 1;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(newCost &lt; nodes[nr][nc].g)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nodes[nr][nc].g = newCost;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priority = newCost;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(useHeuristic)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priority += heuristic(nr, nc);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pqPush(&amp;frontier, nr, nc, priority);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“if (useHeuristic)” branch is the entire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difference between the two algorithms.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6749741" y="120343"/>
            <a:ext cx="5337153" cy="6595767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30×30 Grid</a:t>
            </a:r>
            <a:endParaRPr lang="en-US" sz="2800" dirty="0"/>
          </a:p>
        </p:txBody>
      </p:sp>
      <p:pic>
        <p:nvPicPr>
          <p:cNvPr id="4" name="Image 0" descr="demo-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842656"/>
            <a:ext cx="4206240" cy="3785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464603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r>
              <a:rPr lang="zh-CN" alt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zh-CN" alt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zh-CN" alt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ctual terminal output from our program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6090" y="3576775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3940" y="3924328"/>
            <a:ext cx="47286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13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././Final\</a:t>
            </a:r>
            <a:r>
              <a:rPr lang="zh-CN" altLang="en-US" sz="13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zh-CN" sz="13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300" dirty="0">
              <a:solidFill>
                <a:srgbClr val="00206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clang main.c pqueue.c drawUI.c -o pathfinder</a:t>
            </a:r>
            <a:endParaRPr lang="en-US" sz="1300" dirty="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./pathfinder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8640" y="4930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r>
              <a:rPr lang="zh-CN" alt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79120" y="524323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Start / Goal  →  Watch A* animate  →  Press Enter  →  </a:t>
            </a:r>
            <a:r>
              <a:rPr lang="en-US" altLang="zh-CN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atch Dijkstra animate </a:t>
            </a:r>
          </a:p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</a:t>
            </a:r>
            <a:r>
              <a:rPr lang="en-US" altLang="zh-CN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</a:t>
            </a:r>
            <a:r>
              <a:rPr lang="zh-CN" alt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r>
              <a:rPr lang="zh-CN" alt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zh-CN" alt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r>
              <a:rPr lang="zh-CN" alt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 table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1A77D6-CE52-7FF7-5F76-9A5F63DFE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" y="1860893"/>
            <a:ext cx="1817239" cy="1423355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1B0E7997-80F3-5812-0C9E-C43A7AD704A8}"/>
              </a:ext>
            </a:extLst>
          </p:cNvPr>
          <p:cNvSpPr/>
          <p:nvPr/>
        </p:nvSpPr>
        <p:spPr>
          <a:xfrm>
            <a:off x="7333070" y="376400"/>
            <a:ext cx="2823856" cy="225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Layout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56E95E02-684A-4C5F-2D84-543B187A12DA}"/>
              </a:ext>
            </a:extLst>
          </p:cNvPr>
          <p:cNvSpPr/>
          <p:nvPr/>
        </p:nvSpPr>
        <p:spPr>
          <a:xfrm>
            <a:off x="7406640" y="5216818"/>
            <a:ext cx="67773" cy="67773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B9C56F1-8F25-B0D8-6986-057CD09E808F}"/>
              </a:ext>
            </a:extLst>
          </p:cNvPr>
          <p:cNvSpPr/>
          <p:nvPr/>
        </p:nvSpPr>
        <p:spPr>
          <a:xfrm>
            <a:off x="7662672" y="5079184"/>
            <a:ext cx="3950208" cy="28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long straight walls + one connecting wall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6129263E-434A-D748-2F47-A25F2D5F3FFA}"/>
              </a:ext>
            </a:extLst>
          </p:cNvPr>
          <p:cNvSpPr/>
          <p:nvPr/>
        </p:nvSpPr>
        <p:spPr>
          <a:xfrm>
            <a:off x="7406640" y="5642066"/>
            <a:ext cx="67773" cy="67773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5900737E-18CB-71F8-04CC-9A7E02F82621}"/>
              </a:ext>
            </a:extLst>
          </p:cNvPr>
          <p:cNvSpPr/>
          <p:nvPr/>
        </p:nvSpPr>
        <p:spPr>
          <a:xfrm>
            <a:off x="7662672" y="5618680"/>
            <a:ext cx="3950208" cy="28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closed 3×3 box around (27, 27) — deliberately unreachable, to test “No path found.”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6E2E088E-5513-FFDD-BE20-47C5806813A8}"/>
              </a:ext>
            </a:extLst>
          </p:cNvPr>
          <p:cNvSpPr/>
          <p:nvPr/>
        </p:nvSpPr>
        <p:spPr>
          <a:xfrm>
            <a:off x="7406640" y="6203950"/>
            <a:ext cx="67773" cy="67773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4C7823B7-0DBE-ABC4-4583-96BCA6B33342}"/>
              </a:ext>
            </a:extLst>
          </p:cNvPr>
          <p:cNvSpPr/>
          <p:nvPr/>
        </p:nvSpPr>
        <p:spPr>
          <a:xfrm>
            <a:off x="7662672" y="6159490"/>
            <a:ext cx="3950208" cy="28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Start/Goal row &amp; column; input is validated against walls and grid bounds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0E9F8235-C98E-B73B-2E05-95C9C59EE71F}"/>
              </a:ext>
            </a:extLst>
          </p:cNvPr>
          <p:cNvSpPr/>
          <p:nvPr/>
        </p:nvSpPr>
        <p:spPr>
          <a:xfrm>
            <a:off x="502920" y="14689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Map, Same Optimal Path — Different Effort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report identical path length on our test maps — A* simply reaches that answer while exploring fewer nodes.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400800" cy="1508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Path Length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Explored Nodes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same as Dijkstra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5710B"/>
                          </a:solidFill>
                        </a:rPr>
                        <a:t>fewer ↓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Dijkstra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same as A*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6F63"/>
                          </a:solidFill>
                        </a:rPr>
                        <a:t>more ↑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11064240" cy="2331720"/>
          </a:xfrm>
          <a:prstGeom prst="roundRect">
            <a:avLst>
              <a:gd name="adj" fmla="val 2745"/>
            </a:avLst>
          </a:prstGeom>
          <a:solidFill>
            <a:srgbClr val="F5F7FB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28062" y="4686249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78992" y="4526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heuristic doesn't change correctness — it changes efficiency, by reordering which cells get explored first.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28062" y="5189169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78992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grows with map size: on larger, more open grids, A* explores a visibly smaller region than Dijkstra.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28062" y="5692089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0"/>
          <p:cNvSpPr/>
          <p:nvPr/>
        </p:nvSpPr>
        <p:spPr>
          <a:xfrm>
            <a:off x="1078992" y="5532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there's no useful heuristic (e.g. finding paths to every location), Dijkstra is the right tool — A* offers no benefit.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CS5008 Final Project  |  JSD Squad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FF1119-6BE3-2377-9479-DA6B387D450E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altLang="zh-CN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91F6D4-F7BC-9CBE-43F7-FA5CC34130BB}"/>
              </a:ext>
            </a:extLst>
          </p:cNvPr>
          <p:cNvSpPr/>
          <p:nvPr/>
        </p:nvSpPr>
        <p:spPr>
          <a:xfrm>
            <a:off x="548641" y="731520"/>
            <a:ext cx="31463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Cambria" pitchFamily="34" charset="0"/>
              </a:rPr>
              <a:t>Testing</a:t>
            </a:r>
            <a:r>
              <a:rPr lang="zh-CN" altLang="en-US" sz="2800" b="1" dirty="0">
                <a:solidFill>
                  <a:srgbClr val="1E2761"/>
                </a:solidFill>
                <a:latin typeface="Cambria" pitchFamily="34" charset="0"/>
              </a:rPr>
              <a:t> </a:t>
            </a:r>
            <a:r>
              <a:rPr lang="en-US" altLang="zh-CN" sz="2800" b="1" dirty="0">
                <a:solidFill>
                  <a:srgbClr val="1E2761"/>
                </a:solidFill>
                <a:latin typeface="Cambria" pitchFamily="34" charset="0"/>
              </a:rPr>
              <a:t>Cases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15D6D6-305D-8122-9FB5-9EA3BD102300}"/>
              </a:ext>
            </a:extLst>
          </p:cNvPr>
          <p:cNvSpPr/>
          <p:nvPr/>
        </p:nvSpPr>
        <p:spPr>
          <a:xfrm>
            <a:off x="8645056" y="1222512"/>
            <a:ext cx="2998304" cy="528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“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No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path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found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”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w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hen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start/goal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is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set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in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a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closed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wall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area</a:t>
            </a:r>
            <a:endParaRPr lang="en-US" sz="1400" b="1" dirty="0">
              <a:solidFill>
                <a:srgbClr val="1E2761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D3CE3A-6C5F-7B92-DBCB-BE0CB1782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253" y="1902551"/>
            <a:ext cx="2879345" cy="1353217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551F6F9C-2024-7040-BC65-C45AAAABCB3C}"/>
              </a:ext>
            </a:extLst>
          </p:cNvPr>
          <p:cNvSpPr/>
          <p:nvPr/>
        </p:nvSpPr>
        <p:spPr>
          <a:xfrm>
            <a:off x="4411541" y="1481132"/>
            <a:ext cx="3076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start/goal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</a:t>
            </a:r>
            <a:endParaRPr lang="en-US" sz="1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9E2D9A7-5CF4-8AFA-ECBE-42E63A06FE15}"/>
              </a:ext>
            </a:extLst>
          </p:cNvPr>
          <p:cNvSpPr/>
          <p:nvPr/>
        </p:nvSpPr>
        <p:spPr>
          <a:xfrm>
            <a:off x="548640" y="1497574"/>
            <a:ext cx="287934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start/goal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76429B-B3C1-253C-94D6-16E611AD7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14" y="1886940"/>
            <a:ext cx="3076768" cy="126529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66CB849-D9BC-1DB2-3DBA-60BBCC8AA303}"/>
              </a:ext>
            </a:extLst>
          </p:cNvPr>
          <p:cNvGrpSpPr/>
          <p:nvPr/>
        </p:nvGrpSpPr>
        <p:grpSpPr>
          <a:xfrm>
            <a:off x="618214" y="3196134"/>
            <a:ext cx="3076768" cy="1186520"/>
            <a:chOff x="4787072" y="3030152"/>
            <a:chExt cx="3076768" cy="11865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FE0929-158F-3174-7DD9-F845DA44ACB4}"/>
                </a:ext>
              </a:extLst>
            </p:cNvPr>
            <p:cNvSpPr/>
            <p:nvPr/>
          </p:nvSpPr>
          <p:spPr>
            <a:xfrm>
              <a:off x="4787072" y="3030152"/>
              <a:ext cx="3076768" cy="1186520"/>
            </a:xfrm>
            <a:prstGeom prst="rect">
              <a:avLst/>
            </a:prstGeom>
            <a:solidFill>
              <a:srgbClr val="2D32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2F88A49-4647-195A-7F71-CE815CCF1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7" t="18" r="-1299" b="-18"/>
            <a:stretch>
              <a:fillRect/>
            </a:stretch>
          </p:blipFill>
          <p:spPr>
            <a:xfrm>
              <a:off x="4787072" y="3109827"/>
              <a:ext cx="2538067" cy="1106845"/>
            </a:xfrm>
            <a:prstGeom prst="rect">
              <a:avLst/>
            </a:prstGeom>
          </p:spPr>
        </p:pic>
      </p:grpSp>
      <p:sp>
        <p:nvSpPr>
          <p:cNvPr id="19" name="Text 4">
            <a:extLst>
              <a:ext uri="{FF2B5EF4-FFF2-40B4-BE49-F238E27FC236}">
                <a16:creationId xmlns:a16="http://schemas.microsoft.com/office/drawing/2014/main" id="{2384C9CE-7C22-6ECB-F3D9-1A21E189B0D9}"/>
              </a:ext>
            </a:extLst>
          </p:cNvPr>
          <p:cNvSpPr/>
          <p:nvPr/>
        </p:nvSpPr>
        <p:spPr>
          <a:xfrm>
            <a:off x="4411541" y="4062614"/>
            <a:ext cx="3076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zh-CN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7CCC3A-08CC-6327-88B9-912FEFA70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570" y="1902551"/>
            <a:ext cx="2966444" cy="455788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B92B447-F611-1574-55D9-8B8E7B650139}"/>
              </a:ext>
            </a:extLst>
          </p:cNvPr>
          <p:cNvGrpSpPr/>
          <p:nvPr/>
        </p:nvGrpSpPr>
        <p:grpSpPr>
          <a:xfrm>
            <a:off x="4510253" y="4469460"/>
            <a:ext cx="2879345" cy="1291011"/>
            <a:chOff x="4510253" y="4411323"/>
            <a:chExt cx="2879345" cy="129101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5221464-79ED-014E-C0B0-B310EEAE7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10253" y="4411323"/>
              <a:ext cx="2879345" cy="1291011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62F60AE-D8BA-AF30-9B85-3BCECF48AE2C}"/>
                </a:ext>
              </a:extLst>
            </p:cNvPr>
            <p:cNvSpPr/>
            <p:nvPr/>
          </p:nvSpPr>
          <p:spPr>
            <a:xfrm>
              <a:off x="4520192" y="5291607"/>
              <a:ext cx="2635982" cy="294185"/>
            </a:xfrm>
            <a:prstGeom prst="rect">
              <a:avLst/>
            </a:prstGeom>
            <a:solidFill>
              <a:srgbClr val="2227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9440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the algorithms</a:t>
            </a:r>
            <a:r>
              <a:rPr lang="zh-CN" alt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demo?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 Squad  —  Jenny Zhuo Wang  •  Sandra Yang Huang  •  Doudou Lei Tuo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1724</Words>
  <Application>Microsoft Macintosh PowerPoint</Application>
  <PresentationFormat>Widescreen</PresentationFormat>
  <Paragraphs>256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Yang Huang</cp:lastModifiedBy>
  <cp:revision>9</cp:revision>
  <dcterms:created xsi:type="dcterms:W3CDTF">2026-07-29T22:57:21Z</dcterms:created>
  <dcterms:modified xsi:type="dcterms:W3CDTF">2026-08-03T21:20:12Z</dcterms:modified>
</cp:coreProperties>
</file>